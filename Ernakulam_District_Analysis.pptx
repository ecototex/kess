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Ernakulam District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roadmap for post-remittance entrepreneurial growth and economic resilience.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&amp; Demographic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Area: 3,068 sq km (Central Kerala)</a:t>
            </a:r>
          </a:p>
          <a:p>
            <a:pPr/>
            <a:r>
              <a:t>Kochi: Commercial Capital / Major City</a:t>
            </a:r>
          </a:p>
          <a:p>
            <a:pPr/>
            <a:r>
              <a:t>7 Taluks, 13 Municipalities, 1 Municipal Corporation</a:t>
            </a:r>
          </a:p>
          <a:p>
            <a:pPr/>
            <a:r>
              <a:t>Coastline: ~46 km along Arabian Sea</a:t>
            </a:r>
          </a:p>
          <a:p>
            <a:pPr/>
            <a:r>
              <a:t>Rivers: Periyar, Muvattupuzha, Chalakudy</a:t>
            </a:r>
          </a:p>
          <a:p>
            <a:pPr/>
            <a:r>
              <a:t>Islands: Willingdon, Vallarpadam, Vypin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Context: Remittance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Population: 3.28M | Literacy: 97.05%</a:t>
            </a:r>
          </a:p>
          <a:p>
            <a:pPr/>
            <a:r>
              <a:t>Per Capita Income: ₹94,392 (Pre-milestone)</a:t>
            </a:r>
          </a:p>
          <a:p>
            <a:pPr/>
            <a:r>
              <a:t>Gulf Remittance: ₹12,000–15,000 Cr annually</a:t>
            </a:r>
          </a:p>
          <a:p>
            <a:pPr/>
            <a:r>
              <a:t>~18% NRI Share; 35% households depend on remittances</a:t>
            </a:r>
          </a:p>
          <a:p>
            <a:pPr/>
            <a:r>
              <a:t>High vulnerability to Gulf economic shifts</a:t>
            </a:r>
          </a:p>
          <a:p>
            <a:pPr/>
            <a:r>
              <a:t>History: Ancient spice port &amp; colonial trade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Economic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Industries: Marine/Seafood (2nd largest landing), Coir, Spices, Tourism</a:t>
            </a:r>
          </a:p>
          <a:p>
            <a:pPr/>
            <a:r>
              <a:t>GSDP Contribution:</a:t>
            </a:r>
          </a:p>
          <a:p>
            <a:pPr/>
            <a:r>
              <a:t>- Services &amp; IT: 42%</a:t>
            </a:r>
          </a:p>
          <a:p>
            <a:pPr/>
            <a:r>
              <a:t>- Trade &amp; Logistics: 28%</a:t>
            </a:r>
          </a:p>
          <a:p>
            <a:pPr/>
            <a:r>
              <a:t>- Manufacturing: 15%</a:t>
            </a:r>
          </a:p>
          <a:p>
            <a:pPr/>
            <a:r>
              <a:t>- Tourism: 8%</a:t>
            </a:r>
          </a:p>
          <a:p>
            <a:pPr/>
            <a:r>
              <a:t>- Agriculture/Marine: 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Industrial: High land costs (₹8-15 Cr/acre), MSME tech gap</a:t>
            </a:r>
          </a:p>
          <a:p>
            <a:pPr/>
            <a:r>
              <a:t>Employment: Youth unemployment (12.4%), brain drain (60K/year)</a:t>
            </a:r>
          </a:p>
          <a:p>
            <a:pPr/>
            <a:r>
              <a:t>Environmental: Flooding vulnerability, coastal erosion</a:t>
            </a:r>
          </a:p>
          <a:p>
            <a:pPr/>
            <a:r>
              <a:t>Governance: Single-window delays (90 days), coordination gaps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Port-IT synergy, skilled workforce, high literacy</a:t>
            </a:r>
          </a:p>
          <a:p>
            <a:pPr/>
            <a:r>
              <a:t>Weaknesses: Unsystematic waste disposal, land constraints</a:t>
            </a:r>
          </a:p>
          <a:p>
            <a:pPr/>
            <a:r>
              <a:t>Opportunities: Global maritime corridor, medical tourism, Deep-tech</a:t>
            </a:r>
          </a:p>
          <a:p>
            <a:pPr/>
            <a:r>
              <a:t>Threats: Climate/flooding risks, inter-state competition, talent drain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Growth Verticals 2040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Maritime Economy: Est. ₹25,000 Cr (Container port vision)</a:t>
            </a:r>
          </a:p>
          <a:p>
            <a:pPr/>
            <a:r>
              <a:t>Blue Economy: Est. ₹5,000 Cr (Biotech, Seaweed)</a:t>
            </a:r>
          </a:p>
          <a:p>
            <a:pPr/>
            <a:r>
              <a:t>IT &amp; Deep Tech: Est. ₹15,000 Cr (Infopark 3.0, AI/ML)</a:t>
            </a:r>
          </a:p>
          <a:p>
            <a:pPr/>
            <a:r>
              <a:t>Green Energy: Est. ₹8,000 Cr (Solar/Wind manufacturing)</a:t>
            </a:r>
          </a:p>
          <a:p>
            <a:pPr/>
            <a:r>
              <a:t>Medical Tourism: Est. ₹6,000 Cr</a:t>
            </a:r>
          </a:p>
          <a:p>
            <a:pPr/>
            <a:r>
              <a:t>Cultural Economy: Est. ₹3,500 Cr (Biennale, Heritage)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Entrepreneurial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EODB: Kerala Rank #13; Sameeksha Online Portal</a:t>
            </a:r>
          </a:p>
          <a:p>
            <a:pPr/>
            <a:r>
              <a:t>Components: Kerala Startup Mission (KSUM), Infopark, TiE Kerala</a:t>
            </a:r>
          </a:p>
          <a:p>
            <a:pPr/>
            <a:r>
              <a:t>Success Stories:</a:t>
            </a:r>
          </a:p>
          <a:p>
            <a:pPr/>
            <a:r>
              <a:t>- FreshToHome ($250M+ funding)</a:t>
            </a:r>
          </a:p>
          <a:p>
            <a:pPr/>
            <a:r>
              <a:t>- Entri (10M+ users)</a:t>
            </a:r>
          </a:p>
          <a:p>
            <a:pPr/>
            <a:r>
              <a:t>- Genrobotics (Bandicoot robot)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Problem: The Waste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600+ Tonnes/Day generated; aging infrastructure</a:t>
            </a:r>
          </a:p>
          <a:p>
            <a:pPr/>
            <a:r>
              <a:t>Brahmapuram reliance; lack of localized collection</a:t>
            </a:r>
          </a:p>
          <a:p>
            <a:pPr/>
            <a:r>
              <a:t>Zero consumer incentive for segregation</a:t>
            </a:r>
          </a:p>
          <a:p>
            <a:pPr/>
            <a:r>
              <a:t>Environmental risk to backwaters and livability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GreenBag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App-based waste collection in 30 seconds</a:t>
            </a:r>
          </a:p>
          <a:p>
            <a:pPr/>
            <a:r>
              <a:t>Incentive Model: Convert waste into shopping rewards</a:t>
            </a:r>
          </a:p>
          <a:p>
            <a:pPr/>
            <a:r>
              <a:t>മാലിന്യം മാറ്റൂ, പോയിന്റുകൾ നേടൂ (Waste to Rewards)</a:t>
            </a:r>
          </a:p>
          <a:p>
            <a:pPr/>
            <a:r>
              <a:t>Circular Economy vertical for Ernakulam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Kerala State Planning Board (Economic Review 2023-25)</a:t>
            </a:r>
          </a:p>
          <a:p>
            <a:pPr/>
            <a:r>
              <a:t>District Industries Centre (DIC) Ernakulam</a:t>
            </a:r>
          </a:p>
          <a:p>
            <a:pPr/>
            <a:r>
              <a:t>Kerala Startup Mission (KSUM) Annual Report</a:t>
            </a:r>
          </a:p>
          <a:p>
            <a:pPr/>
            <a:r>
              <a:t>Reserve Bank of India (Remittance Data)</a:t>
            </a:r>
          </a:p>
          <a:p>
            <a:pPr/>
            <a:r>
              <a:t>KMS 2023 (Migration Survey)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