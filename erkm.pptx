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54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315415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3D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D4A8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201168" y="0"/>
            <a:ext cx="8942832" cy="1828800"/>
          </a:xfrm>
          <a:prstGeom prst="rect">
            <a:avLst/>
          </a:prstGeom>
          <a:solidFill>
            <a:srgbClr val="0D6E7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ERNAKULAM DISTRICT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0C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Capstone Presentation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29844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0C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 Analysis &amp; Post-Remittance Entrepreneurial Strategy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1600200" cy="347472"/>
          </a:xfrm>
          <a:prstGeom prst="rect">
            <a:avLst/>
          </a:prstGeom>
          <a:solidFill>
            <a:srgbClr val="0E8C94"/>
          </a:solidFill>
          <a:ln/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02920" y="201168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01 District Profile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212848" y="2011680"/>
            <a:ext cx="1600200" cy="347472"/>
          </a:xfrm>
          <a:prstGeom prst="rect">
            <a:avLst/>
          </a:prstGeom>
          <a:solidFill>
            <a:srgbClr val="0E8C94"/>
          </a:solidFill>
          <a:ln/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258568" y="201168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02 Structural Challenges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968496" y="2011680"/>
            <a:ext cx="1600200" cy="347472"/>
          </a:xfrm>
          <a:prstGeom prst="rect">
            <a:avLst/>
          </a:prstGeom>
          <a:solidFill>
            <a:srgbClr val="0E8C94"/>
          </a:solidFill>
          <a:ln/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014216" y="201168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03 Entrepreneurial Ecosystem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724144" y="2011680"/>
            <a:ext cx="1600200" cy="347472"/>
          </a:xfrm>
          <a:prstGeom prst="rect">
            <a:avLst/>
          </a:prstGeom>
          <a:solidFill>
            <a:srgbClr val="0E8C94"/>
          </a:solidFill>
          <a:ln/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769864" y="201168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04 Integrated Solutions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7479792" y="2011680"/>
            <a:ext cx="1600200" cy="347472"/>
          </a:xfrm>
          <a:prstGeom prst="rect">
            <a:avLst/>
          </a:prstGeom>
          <a:solidFill>
            <a:srgbClr val="0E8C94"/>
          </a:solidFill>
          <a:ln/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7525512" y="201168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05 Strategic Positioning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57200" y="2651760"/>
            <a:ext cx="1920240" cy="1280160"/>
          </a:xfrm>
          <a:prstGeom prst="rect">
            <a:avLst/>
          </a:prstGeom>
          <a:solidFill>
            <a:srgbClr val="0D6E75"/>
          </a:solidFill>
          <a:ln w="12700">
            <a:solidFill>
              <a:srgbClr val="5BB8BF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02920" y="26974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D4A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3.4M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502920" y="33375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DF6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606040" y="2651760"/>
            <a:ext cx="1920240" cy="1280160"/>
          </a:xfrm>
          <a:prstGeom prst="rect">
            <a:avLst/>
          </a:prstGeom>
          <a:solidFill>
            <a:srgbClr val="0D6E75"/>
          </a:solidFill>
          <a:ln w="12700">
            <a:solidFill>
              <a:srgbClr val="5BB8BF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2651760" y="26974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D4A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96%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2651760" y="33375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DF6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Literacy Rate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2651760"/>
            <a:ext cx="1920240" cy="1280160"/>
          </a:xfrm>
          <a:prstGeom prst="rect">
            <a:avLst/>
          </a:prstGeom>
          <a:solidFill>
            <a:srgbClr val="0D6E75"/>
          </a:solidFill>
          <a:ln w="12700">
            <a:solidFill>
              <a:srgbClr val="5BB8BF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4800600" y="26974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D4A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₹82K Cr</a:t>
            </a:r>
            <a:endParaRPr lang="en-US" sz="3400" dirty="0"/>
          </a:p>
        </p:txBody>
      </p:sp>
      <p:sp>
        <p:nvSpPr>
          <p:cNvPr id="25" name="Text 23"/>
          <p:cNvSpPr/>
          <p:nvPr/>
        </p:nvSpPr>
        <p:spPr>
          <a:xfrm>
            <a:off x="4800600" y="33375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DF6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GSDP Contribution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903720" y="2651760"/>
            <a:ext cx="1920240" cy="1280160"/>
          </a:xfrm>
          <a:prstGeom prst="rect">
            <a:avLst/>
          </a:prstGeom>
          <a:solidFill>
            <a:srgbClr val="0D6E75"/>
          </a:solidFill>
          <a:ln w="12700">
            <a:solidFill>
              <a:srgbClr val="5BB8BF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6949440" y="26974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D4A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3400" dirty="0"/>
          </a:p>
        </p:txBody>
      </p:sp>
      <p:sp>
        <p:nvSpPr>
          <p:cNvPr id="28" name="Text 26"/>
          <p:cNvSpPr/>
          <p:nvPr/>
        </p:nvSpPr>
        <p:spPr>
          <a:xfrm>
            <a:off x="6949440" y="33375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DF6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Kerala's Comm. Hub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BB8BF"/>
                </a:solidFill>
              </a:rPr>
              <a:t>Commerce • Innovation • Maritime Excellence | 2025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6E7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D4A8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D4A8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600" dirty="0">
                <a:solidFill>
                  <a:srgbClr val="D4A833"/>
                </a:solidFill>
              </a:rPr>
              <a:t>SECTION 01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 Profile &amp;</a:t>
            </a:r>
            <a:endParaRPr lang="en-US" sz="4000" dirty="0"/>
          </a:p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Context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0CE7A"/>
                </a:solidFill>
              </a:rPr>
              <a:t>Resource mapping • Geographic profile • Economic overview • Financial ecosystem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3D4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&amp; DEMOGRAPHIC PROFILE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685800"/>
            <a:ext cx="4023360" cy="2926080"/>
          </a:xfrm>
          <a:prstGeom prst="rect">
            <a:avLst/>
          </a:prstGeom>
          <a:solidFill>
            <a:srgbClr val="EFF8F9"/>
          </a:solidFill>
          <a:ln w="12700">
            <a:solidFill>
              <a:srgbClr val="5BB8BF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0D6E75"/>
                </a:solidFill>
              </a:rPr>
              <a:t>ERNAKULAM — CENTRAL KERALA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1097280" cy="237744"/>
          </a:xfrm>
          <a:prstGeom prst="rect">
            <a:avLst/>
          </a:prstGeom>
          <a:solidFill>
            <a:srgbClr val="0D6E7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84048" y="1188720"/>
            <a:ext cx="1060704" cy="2377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Area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508760" y="118872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30"/>
                </a:solidFill>
              </a:rPr>
              <a:t>3,068 sq km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481328"/>
            <a:ext cx="1097280" cy="237744"/>
          </a:xfrm>
          <a:prstGeom prst="rect">
            <a:avLst/>
          </a:prstGeom>
          <a:solidFill>
            <a:srgbClr val="0D6E7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84048" y="1481328"/>
            <a:ext cx="1060704" cy="2377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Location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508760" y="148132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30"/>
                </a:solidFill>
              </a:rPr>
              <a:t>Central Kerala, western coast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1773936"/>
            <a:ext cx="1097280" cy="237744"/>
          </a:xfrm>
          <a:prstGeom prst="rect">
            <a:avLst/>
          </a:prstGeom>
          <a:solidFill>
            <a:srgbClr val="0D6E7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84048" y="1773936"/>
            <a:ext cx="1060704" cy="2377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Major City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508760" y="177393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30"/>
                </a:solidFill>
              </a:rPr>
              <a:t>Kochi (Commercial Capital)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2066544"/>
            <a:ext cx="1097280" cy="237744"/>
          </a:xfrm>
          <a:prstGeom prst="rect">
            <a:avLst/>
          </a:prstGeom>
          <a:solidFill>
            <a:srgbClr val="0D6E7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84048" y="2066544"/>
            <a:ext cx="1060704" cy="2377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Taluks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508760" y="206654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30"/>
                </a:solidFill>
              </a:rPr>
              <a:t>7 taluks, 14 municipalities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2359152"/>
            <a:ext cx="1097280" cy="237744"/>
          </a:xfrm>
          <a:prstGeom prst="rect">
            <a:avLst/>
          </a:prstGeom>
          <a:solidFill>
            <a:srgbClr val="0D6E7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84048" y="2359152"/>
            <a:ext cx="1060704" cy="2377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Coastline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508760" y="235915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30"/>
                </a:solidFill>
              </a:rPr>
              <a:t>~48 km along Arabian Sea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2651760"/>
            <a:ext cx="1097280" cy="237744"/>
          </a:xfrm>
          <a:prstGeom prst="rect">
            <a:avLst/>
          </a:prstGeom>
          <a:solidFill>
            <a:srgbClr val="0D6E7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384048" y="2651760"/>
            <a:ext cx="1060704" cy="2377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Rivers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508760" y="26517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30"/>
                </a:solidFill>
              </a:rPr>
              <a:t>Periyar, Muvattupuzha, Chalakudy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5760" y="2944368"/>
            <a:ext cx="1097280" cy="237744"/>
          </a:xfrm>
          <a:prstGeom prst="rect">
            <a:avLst/>
          </a:prstGeom>
          <a:solidFill>
            <a:srgbClr val="0D6E7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384048" y="2944368"/>
            <a:ext cx="1060704" cy="2377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Islands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508760" y="294436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30"/>
                </a:solidFill>
              </a:rPr>
              <a:t>Willingdon, Vallarpadam, Vypin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0" y="685800"/>
            <a:ext cx="2011680" cy="1325880"/>
          </a:xfrm>
          <a:prstGeom prst="rect">
            <a:avLst/>
          </a:prstGeom>
          <a:solidFill>
            <a:srgbClr val="0A3D40"/>
          </a:solidFill>
          <a:ln/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4617720" y="8686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4A833"/>
                </a:solidFill>
              </a:rPr>
              <a:t>3.4M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4617720" y="14630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DF6E9"/>
                </a:solidFill>
              </a:rPr>
              <a:t>Total Population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766560" y="685800"/>
            <a:ext cx="2011680" cy="1325880"/>
          </a:xfrm>
          <a:prstGeom prst="rect">
            <a:avLst/>
          </a:prstGeom>
          <a:solidFill>
            <a:srgbClr val="0D6E75"/>
          </a:solidFill>
          <a:ln/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6812280" y="8686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4A833"/>
                </a:solidFill>
              </a:rPr>
              <a:t>~18%</a:t>
            </a:r>
            <a:endParaRPr lang="en-US" sz="3000" dirty="0"/>
          </a:p>
        </p:txBody>
      </p:sp>
      <p:sp>
        <p:nvSpPr>
          <p:cNvPr id="32" name="Text 30"/>
          <p:cNvSpPr/>
          <p:nvPr/>
        </p:nvSpPr>
        <p:spPr>
          <a:xfrm>
            <a:off x="6812280" y="14630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DF6E9"/>
                </a:solidFill>
              </a:rPr>
              <a:t>NRI / Diaspora share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572000" y="2194560"/>
            <a:ext cx="2011680" cy="1325880"/>
          </a:xfrm>
          <a:prstGeom prst="rect">
            <a:avLst/>
          </a:prstGeom>
          <a:solidFill>
            <a:srgbClr val="0E8C94"/>
          </a:solidFill>
          <a:ln/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4617720" y="23774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4A833"/>
                </a:solidFill>
              </a:rPr>
              <a:t>96.3%</a:t>
            </a:r>
            <a:endParaRPr lang="en-US" sz="3000" dirty="0"/>
          </a:p>
        </p:txBody>
      </p:sp>
      <p:sp>
        <p:nvSpPr>
          <p:cNvPr id="35" name="Text 33"/>
          <p:cNvSpPr/>
          <p:nvPr/>
        </p:nvSpPr>
        <p:spPr>
          <a:xfrm>
            <a:off x="4617720" y="29718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DF6E9"/>
                </a:solidFill>
              </a:rPr>
              <a:t>Literacy Rate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766560" y="2194560"/>
            <a:ext cx="2011680" cy="1325880"/>
          </a:xfrm>
          <a:prstGeom prst="rect">
            <a:avLst/>
          </a:prstGeom>
          <a:solidFill>
            <a:srgbClr val="2E7D32"/>
          </a:solidFill>
          <a:ln/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6812280" y="23774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4A833"/>
                </a:solidFill>
              </a:rPr>
              <a:t>₹8,500+</a:t>
            </a:r>
            <a:endParaRPr lang="en-US" sz="3000" dirty="0"/>
          </a:p>
        </p:txBody>
      </p:sp>
      <p:sp>
        <p:nvSpPr>
          <p:cNvPr id="38" name="Text 36"/>
          <p:cNvSpPr/>
          <p:nvPr/>
        </p:nvSpPr>
        <p:spPr>
          <a:xfrm>
            <a:off x="6812280" y="29718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DF6E9"/>
                </a:solidFill>
              </a:rPr>
              <a:t>Per Capita Income (monthly)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434840" y="3749040"/>
            <a:ext cx="4434840" cy="777240"/>
          </a:xfrm>
          <a:prstGeom prst="rect">
            <a:avLst/>
          </a:prstGeom>
          <a:solidFill>
            <a:srgbClr val="F0CE7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4434840" y="3749040"/>
            <a:ext cx="73152" cy="777240"/>
          </a:xfrm>
          <a:prstGeom prst="rect">
            <a:avLst/>
          </a:prstGeom>
          <a:solidFill>
            <a:srgbClr val="D4A8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4572000" y="3822192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30"/>
                </a:solidFill>
              </a:rPr>
              <a:t>Gulf Remittance Dependency: Ernakulam receives est. ₹12,000–15,000 Cr annually from NRIs (primarily Gulf). ~35% of households depend on remittances. High vulnerability to Gulf economic shifts.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274320" y="3749040"/>
            <a:ext cx="4023360" cy="777240"/>
          </a:xfrm>
          <a:prstGeom prst="rect">
            <a:avLst/>
          </a:prstGeom>
          <a:solidFill>
            <a:srgbClr val="EFF8F9"/>
          </a:solidFill>
          <a:ln w="12700">
            <a:solidFill>
              <a:srgbClr val="5BB8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365760" y="379476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6E75"/>
                </a:solidFill>
              </a:rPr>
              <a:t>Historical Context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65760" y="40233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30"/>
                </a:solidFill>
              </a:rPr>
              <a:t>Ancient spice trading port; Cochin was a Dutch, Portuguese &amp; British colonial hub. Post-independence emergence as Kerala's commercial and industrial centre.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B9EA0"/>
                </a:solidFill>
              </a:rPr>
              <a:t>Sources: Census 2011/21, Kerala State Planning Board 2023, DIC Ernakulam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3D4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INDIGENOUS RESOURCES &amp; ECONOMIC PROFILE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640080"/>
            <a:ext cx="27432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5BB8BF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74320" y="640080"/>
            <a:ext cx="73152" cy="1143000"/>
          </a:xfrm>
          <a:prstGeom prst="rect">
            <a:avLst/>
          </a:prstGeom>
          <a:solidFill>
            <a:srgbClr val="0D6E7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11480" y="73152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6E75"/>
                </a:solidFill>
              </a:rPr>
              <a:t>Marine &amp; Seafood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11480" y="1024128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30"/>
                </a:solidFill>
              </a:rPr>
              <a:t>2nd largest fish landing; Cochin fishing harbour; prawns, tuna, sardines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0" y="640080"/>
            <a:ext cx="27432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5BB8BF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3200400" y="640080"/>
            <a:ext cx="73152" cy="1143000"/>
          </a:xfrm>
          <a:prstGeom prst="rect">
            <a:avLst/>
          </a:prstGeom>
          <a:solidFill>
            <a:srgbClr val="0E8C9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337560" y="73152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8C94"/>
                </a:solidFill>
              </a:rPr>
              <a:t>Coir Products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337560" y="1024128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30"/>
                </a:solidFill>
              </a:rPr>
              <a:t>Traditional coir weaving, mats, mattresses — Alappuzha proximity advantage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126480" y="640080"/>
            <a:ext cx="27432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5BB8BF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6126480" y="640080"/>
            <a:ext cx="73152" cy="1143000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263640" y="73152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7D32"/>
                </a:solidFill>
              </a:rPr>
              <a:t>Spices &amp; Plantation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263640" y="1024128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30"/>
                </a:solidFill>
              </a:rPr>
              <a:t>Pepper, cardamom transit hub; processing and value-add industries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1965960"/>
            <a:ext cx="27432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5BB8BF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274320" y="1965960"/>
            <a:ext cx="73152" cy="1143000"/>
          </a:xfrm>
          <a:prstGeom prst="rect">
            <a:avLst/>
          </a:prstGeom>
          <a:solidFill>
            <a:srgbClr val="0A3D4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11480" y="205740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3D40"/>
                </a:solidFill>
              </a:rPr>
              <a:t>Boat Building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11480" y="2350008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30"/>
                </a:solidFill>
              </a:rPr>
              <a:t>Traditional wooden boat &amp; houseboat craftsmanship; Alappuzha-Kochi corridor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00400" y="1965960"/>
            <a:ext cx="27432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5BB8BF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3200400" y="1965960"/>
            <a:ext cx="73152" cy="1143000"/>
          </a:xfrm>
          <a:prstGeom prst="rect">
            <a:avLst/>
          </a:prstGeom>
          <a:solidFill>
            <a:srgbClr val="0D6E7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3337560" y="205740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6E75"/>
                </a:solidFill>
              </a:rPr>
              <a:t>Handicrafts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337560" y="2350008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30"/>
                </a:solidFill>
              </a:rPr>
              <a:t>Rosewood carving, brass work, Kasavu textiles, bamboo crafts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126480" y="1965960"/>
            <a:ext cx="27432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5BB8BF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6126480" y="1965960"/>
            <a:ext cx="73152" cy="1143000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263640" y="205740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7D32"/>
                </a:solidFill>
              </a:rPr>
              <a:t>Coconut Products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263640" y="2350008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30"/>
                </a:solidFill>
              </a:rPr>
              <a:t>Coconut oil, toddy, neera — agri-based processing units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74320" y="329184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3D40"/>
                </a:solidFill>
              </a:rPr>
              <a:t>ECONOMIC SECTOR MIX (GSDP Contribution)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011680" y="3657600"/>
            <a:ext cx="2688336" cy="182880"/>
          </a:xfrm>
          <a:prstGeom prst="rect">
            <a:avLst/>
          </a:prstGeom>
          <a:solidFill>
            <a:srgbClr val="0D6E7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274320" y="3657600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1A2E30"/>
                </a:solidFill>
              </a:rPr>
              <a:t>Services &amp; IT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745736" y="3657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6E75"/>
                </a:solidFill>
              </a:rPr>
              <a:t>42%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011680" y="3895344"/>
            <a:ext cx="1792224" cy="182880"/>
          </a:xfrm>
          <a:prstGeom prst="rect">
            <a:avLst/>
          </a:prstGeom>
          <a:solidFill>
            <a:srgbClr val="0E8C9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274320" y="3895344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1A2E30"/>
                </a:solidFill>
              </a:rPr>
              <a:t>Trade &amp; Logistics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3849624" y="389534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E8C94"/>
                </a:solidFill>
              </a:rPr>
              <a:t>28%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011680" y="4133088"/>
            <a:ext cx="960120" cy="182880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274320" y="4133088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1A2E30"/>
                </a:solidFill>
              </a:rPr>
              <a:t>Manufacturing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3017520" y="413308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E7D32"/>
                </a:solidFill>
              </a:rPr>
              <a:t>15%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2011680" y="4370832"/>
            <a:ext cx="512064" cy="182880"/>
          </a:xfrm>
          <a:prstGeom prst="rect">
            <a:avLst/>
          </a:prstGeom>
          <a:solidFill>
            <a:srgbClr val="D4A8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274320" y="4370832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1A2E30"/>
                </a:solidFill>
              </a:rPr>
              <a:t>Tourism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2569464" y="43708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4A833"/>
                </a:solidFill>
              </a:rPr>
              <a:t>8%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2011680" y="4608576"/>
            <a:ext cx="448056" cy="182880"/>
          </a:xfrm>
          <a:prstGeom prst="rect">
            <a:avLst/>
          </a:prstGeom>
          <a:solidFill>
            <a:srgbClr val="5BB8B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274320" y="4608576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1A2E30"/>
                </a:solidFill>
              </a:rPr>
              <a:t>Agriculture/Marine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2505456" y="460857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BB8BF"/>
                </a:solidFill>
              </a:rPr>
              <a:t>7%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274320" y="484632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B9EA0"/>
                </a:solidFill>
              </a:rPr>
              <a:t>Sources: Kerala Economic Review 2023, DIC Ernakulam, KSIDC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3D4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&amp; FINANCIAL ECOSYSTEM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74320" y="5943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6E75"/>
                </a:solidFill>
              </a:rPr>
              <a:t>KEY INFRASTRUCTURE ASSETS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48463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5BB8BF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64008" cy="438912"/>
          </a:xfrm>
          <a:prstGeom prst="rect">
            <a:avLst/>
          </a:prstGeom>
          <a:solidFill>
            <a:srgbClr val="0D6E7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02336" y="95097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3D40"/>
                </a:solidFill>
              </a:rPr>
              <a:t>Cochin Port &amp; ICTT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02336" y="1133856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6B6E"/>
                </a:solidFill>
              </a:rPr>
              <a:t>Largest transshipment port on West Coast; 8.5 MT cargo capacity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74320" y="1426464"/>
            <a:ext cx="48463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5BB8BF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74320" y="1426464"/>
            <a:ext cx="64008" cy="438912"/>
          </a:xfrm>
          <a:prstGeom prst="rect">
            <a:avLst/>
          </a:prstGeom>
          <a:solidFill>
            <a:srgbClr val="0D6E7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02336" y="1463040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3D40"/>
                </a:solidFill>
              </a:rPr>
              <a:t>Cochin International Airport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02336" y="1645920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6B6E"/>
                </a:solidFill>
              </a:rPr>
              <a:t>India's first solar-powered airport; 9.5M+ passengers annually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74320" y="1938528"/>
            <a:ext cx="48463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5BB8BF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274320" y="1938528"/>
            <a:ext cx="64008" cy="438912"/>
          </a:xfrm>
          <a:prstGeom prst="rect">
            <a:avLst/>
          </a:prstGeom>
          <a:solidFill>
            <a:srgbClr val="0D6E7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02336" y="1975104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3D40"/>
                </a:solidFill>
              </a:rPr>
              <a:t>Infopark &amp; SmartCity Kochi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02336" y="2157984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6B6E"/>
                </a:solidFill>
              </a:rPr>
              <a:t>400+ IT/ITeS companies; 80,000+ knowledge workers employed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74320" y="2450592"/>
            <a:ext cx="48463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5BB8BF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274320" y="2450592"/>
            <a:ext cx="64008" cy="438912"/>
          </a:xfrm>
          <a:prstGeom prst="rect">
            <a:avLst/>
          </a:prstGeom>
          <a:solidFill>
            <a:srgbClr val="0D6E7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02336" y="2487168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3D40"/>
                </a:solidFill>
              </a:rPr>
              <a:t>Kochi Metro &amp; Road Network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02336" y="2670048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6B6E"/>
                </a:solidFill>
              </a:rPr>
              <a:t>25km metro rail; NH-66, NH-544 connectivity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74320" y="2962656"/>
            <a:ext cx="48463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5BB8BF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274320" y="2962656"/>
            <a:ext cx="64008" cy="438912"/>
          </a:xfrm>
          <a:prstGeom prst="rect">
            <a:avLst/>
          </a:prstGeom>
          <a:solidFill>
            <a:srgbClr val="0D6E7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02336" y="2999232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3D40"/>
                </a:solidFill>
              </a:rPr>
              <a:t>CSEZ (SEZ)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02336" y="3182112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6B6E"/>
                </a:solidFill>
              </a:rPr>
              <a:t>Cochin Special Economic Zone — FTWZ, IT Park, industrial zone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74320" y="3474720"/>
            <a:ext cx="48463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5BB8BF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274320" y="3474720"/>
            <a:ext cx="64008" cy="438912"/>
          </a:xfrm>
          <a:prstGeom prst="rect">
            <a:avLst/>
          </a:prstGeom>
          <a:solidFill>
            <a:srgbClr val="0D6E7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02336" y="35112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3D40"/>
                </a:solidFill>
              </a:rPr>
              <a:t>Kochi Waterways (Wtransport)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02336" y="3694176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6B6E"/>
                </a:solidFill>
              </a:rPr>
              <a:t>India's first water metro; island connectivity via backwaters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394960" y="5943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6E75"/>
                </a:solidFill>
              </a:rPr>
              <a:t>FINANCIAL ECOSYSTEM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394960" y="914400"/>
            <a:ext cx="3474720" cy="438912"/>
          </a:xfrm>
          <a:prstGeom prst="rect">
            <a:avLst/>
          </a:prstGeom>
          <a:solidFill>
            <a:srgbClr val="EFF8F9"/>
          </a:solidFill>
          <a:ln w="12700">
            <a:solidFill>
              <a:srgbClr val="5BB8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5486400" y="9601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30"/>
                </a:solidFill>
              </a:rPr>
              <a:t>Banking Branches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498080" y="96012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D6E75"/>
                </a:solidFill>
              </a:rPr>
              <a:t>1,200+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394960" y="1426464"/>
            <a:ext cx="3474720" cy="438912"/>
          </a:xfrm>
          <a:prstGeom prst="rect">
            <a:avLst/>
          </a:prstGeom>
          <a:solidFill>
            <a:srgbClr val="EFF8F9"/>
          </a:solidFill>
          <a:ln w="12700">
            <a:solidFill>
              <a:srgbClr val="5BB8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5486400" y="147218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30"/>
                </a:solidFill>
              </a:rPr>
              <a:t>NBFC Units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498080" y="1472184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D6E75"/>
                </a:solidFill>
              </a:rPr>
              <a:t>340+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394960" y="1938528"/>
            <a:ext cx="3474720" cy="438912"/>
          </a:xfrm>
          <a:prstGeom prst="rect">
            <a:avLst/>
          </a:prstGeom>
          <a:solidFill>
            <a:srgbClr val="EFF8F9"/>
          </a:solidFill>
          <a:ln w="12700">
            <a:solidFill>
              <a:srgbClr val="5BB8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5486400" y="198424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30"/>
                </a:solidFill>
              </a:rPr>
              <a:t>Startup Incubators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498080" y="198424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D6E75"/>
                </a:solidFill>
              </a:rPr>
              <a:t>12 active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394960" y="2450592"/>
            <a:ext cx="3474720" cy="438912"/>
          </a:xfrm>
          <a:prstGeom prst="rect">
            <a:avLst/>
          </a:prstGeom>
          <a:solidFill>
            <a:srgbClr val="EFF8F9"/>
          </a:solidFill>
          <a:ln w="12700">
            <a:solidFill>
              <a:srgbClr val="5BB8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5486400" y="249631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30"/>
                </a:solidFill>
              </a:rPr>
              <a:t>Angel Network Deals (2023)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498080" y="249631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D6E75"/>
                </a:solidFill>
              </a:rPr>
              <a:t>45+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394960" y="2962656"/>
            <a:ext cx="3474720" cy="438912"/>
          </a:xfrm>
          <a:prstGeom prst="rect">
            <a:avLst/>
          </a:prstGeom>
          <a:solidFill>
            <a:srgbClr val="EFF8F9"/>
          </a:solidFill>
          <a:ln w="12700">
            <a:solidFill>
              <a:srgbClr val="5BB8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5486400" y="300837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30"/>
                </a:solidFill>
              </a:rPr>
              <a:t>VC Funded Startups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498080" y="3008376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D6E75"/>
                </a:solidFill>
              </a:rPr>
              <a:t>200+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5394960" y="3474720"/>
            <a:ext cx="3474720" cy="438912"/>
          </a:xfrm>
          <a:prstGeom prst="rect">
            <a:avLst/>
          </a:prstGeom>
          <a:solidFill>
            <a:srgbClr val="EFF8F9"/>
          </a:solidFill>
          <a:ln w="12700">
            <a:solidFill>
              <a:srgbClr val="5BB8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5486400" y="35204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30"/>
                </a:solidFill>
              </a:rPr>
              <a:t>MSME Registered Units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7498080" y="352044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D6E75"/>
                </a:solidFill>
              </a:rPr>
              <a:t>1.2 Lakh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274320" y="4160520"/>
            <a:ext cx="8595360" cy="685800"/>
          </a:xfrm>
          <a:prstGeom prst="rect">
            <a:avLst/>
          </a:prstGeom>
          <a:solidFill>
            <a:srgbClr val="F0CE7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Shape 47"/>
          <p:cNvSpPr/>
          <p:nvPr/>
        </p:nvSpPr>
        <p:spPr>
          <a:xfrm>
            <a:off x="274320" y="4160520"/>
            <a:ext cx="64008" cy="685800"/>
          </a:xfrm>
          <a:prstGeom prst="rect">
            <a:avLst/>
          </a:prstGeom>
          <a:solidFill>
            <a:srgbClr val="D4A8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411480" y="420624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3D40"/>
                </a:solidFill>
              </a:rPr>
              <a:t>REMITTANCE DEPENDENCY ASSESSMENT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11480" y="443484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30"/>
                </a:solidFill>
              </a:rPr>
              <a:t>Ernakulam receives ~₹13,000 Cr annually in remittances (primarily from UAE, Kuwait, Qatar, Saudi Arabia). Approximately 35% of urban households and 55% of rural households depend significantly on Gulf remittances. HIGH VULNERABILITY LEVEL — post-COVID and Gulf economic transition pressures necessitate entrepreneurial diversification.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274320" y="4919472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B9EA0"/>
                </a:solidFill>
              </a:rPr>
              <a:t>Sources: Kerala State Planning Board 2023, KSSP, Kerala Economic Review 2023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3D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D4A8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D4A8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600" dirty="0">
                <a:solidFill>
                  <a:srgbClr val="D4A833"/>
                </a:solidFill>
              </a:rPr>
              <a:t>SECTION 02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Challenges &amp;</a:t>
            </a:r>
            <a:endParaRPr lang="en-US" sz="3800" dirty="0"/>
          </a:p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Opportunities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0CE7A"/>
                </a:solidFill>
              </a:rPr>
              <a:t>Industrial • Employment • Environmental • Governance • Future Drivers 2040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3D4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CHALLENGES — ERNAKULAM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640080"/>
            <a:ext cx="4206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5BB8BF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74320" y="640080"/>
            <a:ext cx="4206240" cy="320040"/>
          </a:xfrm>
          <a:prstGeom prst="rect">
            <a:avLst/>
          </a:prstGeom>
          <a:solidFill>
            <a:srgbClr val="0D6E7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65760" y="67665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INDUSTRIAL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84048" y="102412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6E75"/>
                </a:solidFill>
              </a:rPr>
              <a:t>▸ </a:t>
            </a:r>
            <a:r>
              <a:rPr lang="en-US" sz="900" dirty="0">
                <a:solidFill>
                  <a:srgbClr val="1A2E30"/>
                </a:solidFill>
              </a:rPr>
              <a:t>Limited industrial land — avg cost ₹8–15 Cr/acre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84048" y="136245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6E75"/>
                </a:solidFill>
              </a:rPr>
              <a:t>▸ </a:t>
            </a:r>
            <a:r>
              <a:rPr lang="en-US" sz="900" dirty="0">
                <a:solidFill>
                  <a:srgbClr val="1A2E30"/>
                </a:solidFill>
              </a:rPr>
              <a:t>Fragmented MSME sector with low tech adoption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84048" y="170078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6E75"/>
                </a:solidFill>
              </a:rPr>
              <a:t>▸ </a:t>
            </a:r>
            <a:r>
              <a:rPr lang="en-US" sz="900" dirty="0">
                <a:solidFill>
                  <a:srgbClr val="1A2E30"/>
                </a:solidFill>
              </a:rPr>
              <a:t>Overdependence on IT/ITES (single sector risk)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84048" y="203911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6E75"/>
                </a:solidFill>
              </a:rPr>
              <a:t>▸ </a:t>
            </a:r>
            <a:r>
              <a:rPr lang="en-US" sz="900" dirty="0">
                <a:solidFill>
                  <a:srgbClr val="1A2E30"/>
                </a:solidFill>
              </a:rPr>
              <a:t>CSEZ under-utilized capacity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09160" y="640080"/>
            <a:ext cx="4206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5BB8BF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709160" y="640080"/>
            <a:ext cx="4206240" cy="320040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800600" y="67665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EMPLOYMENT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18888" y="102412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7D32"/>
                </a:solidFill>
              </a:rPr>
              <a:t>▸ </a:t>
            </a:r>
            <a:r>
              <a:rPr lang="en-US" sz="900" dirty="0">
                <a:solidFill>
                  <a:srgbClr val="1A2E30"/>
                </a:solidFill>
              </a:rPr>
              <a:t>Youth unemployment rate ~12.4% (educated)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18888" y="136245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7D32"/>
                </a:solidFill>
              </a:rPr>
              <a:t>▸ </a:t>
            </a:r>
            <a:r>
              <a:rPr lang="en-US" sz="900" dirty="0">
                <a:solidFill>
                  <a:srgbClr val="1A2E30"/>
                </a:solidFill>
              </a:rPr>
              <a:t>Skill mismatch — IT vs. traditional jobs gap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818888" y="170078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7D32"/>
                </a:solidFill>
              </a:rPr>
              <a:t>▸ </a:t>
            </a:r>
            <a:r>
              <a:rPr lang="en-US" sz="900" dirty="0">
                <a:solidFill>
                  <a:srgbClr val="1A2E30"/>
                </a:solidFill>
              </a:rPr>
              <a:t>Brain drain to Gulf; 60K+ emigrate annually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18888" y="203911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7D32"/>
                </a:solidFill>
              </a:rPr>
              <a:t>▸ </a:t>
            </a:r>
            <a:r>
              <a:rPr lang="en-US" sz="900" dirty="0">
                <a:solidFill>
                  <a:srgbClr val="1A2E30"/>
                </a:solidFill>
              </a:rPr>
              <a:t>Informal sector dominates (65% of workforce)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2651760"/>
            <a:ext cx="4206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5BB8BF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274320" y="2651760"/>
            <a:ext cx="4206240" cy="320040"/>
          </a:xfrm>
          <a:prstGeom prst="rect">
            <a:avLst/>
          </a:prstGeom>
          <a:solidFill>
            <a:srgbClr val="E85D2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365760" y="268833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ENVIRONMENTAL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84048" y="303580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5D2F"/>
                </a:solidFill>
              </a:rPr>
              <a:t>▸ </a:t>
            </a:r>
            <a:r>
              <a:rPr lang="en-US" sz="900" dirty="0">
                <a:solidFill>
                  <a:srgbClr val="1A2E30"/>
                </a:solidFill>
              </a:rPr>
              <a:t>Flooding vulnerability — Kochi floods 2018/2020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84048" y="337413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5D2F"/>
                </a:solidFill>
              </a:rPr>
              <a:t>▸ </a:t>
            </a:r>
            <a:r>
              <a:rPr lang="en-US" sz="900" dirty="0">
                <a:solidFill>
                  <a:srgbClr val="1A2E30"/>
                </a:solidFill>
              </a:rPr>
              <a:t>Coastal erosion — 12km critical zone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84048" y="371246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5D2F"/>
                </a:solidFill>
              </a:rPr>
              <a:t>▸ </a:t>
            </a:r>
            <a:r>
              <a:rPr lang="en-US" sz="900" dirty="0">
                <a:solidFill>
                  <a:srgbClr val="1A2E30"/>
                </a:solidFill>
              </a:rPr>
              <a:t>Solid waste: 1,200 MT/day insufficient treatment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84048" y="405079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5D2F"/>
                </a:solidFill>
              </a:rPr>
              <a:t>▸ </a:t>
            </a:r>
            <a:r>
              <a:rPr lang="en-US" sz="900" dirty="0">
                <a:solidFill>
                  <a:srgbClr val="1A2E30"/>
                </a:solidFill>
              </a:rPr>
              <a:t>Backwater pollution from industries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709160" y="2651760"/>
            <a:ext cx="4206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5BB8BF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4709160" y="2651760"/>
            <a:ext cx="4206240" cy="320040"/>
          </a:xfrm>
          <a:prstGeom prst="rect">
            <a:avLst/>
          </a:prstGeom>
          <a:solidFill>
            <a:srgbClr val="D4A8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800600" y="268833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GOVERNANCE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18888" y="303580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4A833"/>
                </a:solidFill>
              </a:rPr>
              <a:t>▸ </a:t>
            </a:r>
            <a:r>
              <a:rPr lang="en-US" sz="900" dirty="0">
                <a:solidFill>
                  <a:srgbClr val="1A2E30"/>
                </a:solidFill>
              </a:rPr>
              <a:t>Land use conflicts (coastal regulation zones)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818888" y="337413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4A833"/>
                </a:solidFill>
              </a:rPr>
              <a:t>▸ </a:t>
            </a:r>
            <a:r>
              <a:rPr lang="en-US" sz="900" dirty="0">
                <a:solidFill>
                  <a:srgbClr val="1A2E30"/>
                </a:solidFill>
              </a:rPr>
              <a:t>Single-window clearance delays avg 90 days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818888" y="371246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4A833"/>
                </a:solidFill>
              </a:rPr>
              <a:t>▸ </a:t>
            </a:r>
            <a:r>
              <a:rPr lang="en-US" sz="900" dirty="0">
                <a:solidFill>
                  <a:srgbClr val="1A2E30"/>
                </a:solidFill>
              </a:rPr>
              <a:t>Urban-rural digital divide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818888" y="405079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4A833"/>
                </a:solidFill>
              </a:rPr>
              <a:t>▸ </a:t>
            </a:r>
            <a:r>
              <a:rPr lang="en-US" sz="900" dirty="0">
                <a:solidFill>
                  <a:srgbClr val="1A2E30"/>
                </a:solidFill>
              </a:rPr>
              <a:t>Coordination gap across 14 municipalities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B9EA0"/>
                </a:solidFill>
              </a:rPr>
              <a:t>Sources: Kerala Economic Review 2023, KILA, CDS Thiruvananthapuram, Primary Research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3D4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HIGH-GROWTH OPPORTUNITIES &amp; FUTURE DRIVERS — 2040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640080"/>
            <a:ext cx="2743200" cy="1920240"/>
          </a:xfrm>
          <a:prstGeom prst="rect">
            <a:avLst/>
          </a:prstGeom>
          <a:solidFill>
            <a:srgbClr val="0D6E75"/>
          </a:solidFill>
          <a:ln/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74320" y="7315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🚢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20700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Maritime Economy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53619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DF6E9"/>
                </a:solidFill>
              </a:rPr>
              <a:t>India's largest container port vision; offshore logistics hub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40080" y="2103120"/>
            <a:ext cx="2011680" cy="301752"/>
          </a:xfrm>
          <a:prstGeom prst="rect">
            <a:avLst/>
          </a:prstGeom>
          <a:solidFill>
            <a:srgbClr val="D4A8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58368" y="2121408"/>
            <a:ext cx="19751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3D40"/>
                </a:solidFill>
              </a:rPr>
              <a:t>₹25,000 Cr potential by 2040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0" y="640080"/>
            <a:ext cx="2743200" cy="1920240"/>
          </a:xfrm>
          <a:prstGeom prst="rect">
            <a:avLst/>
          </a:prstGeom>
          <a:solidFill>
            <a:srgbClr val="2E7D32"/>
          </a:solidFill>
          <a:ln/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200400" y="7315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🌱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291840" y="120700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Green Energy Tech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91840" y="153619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DF6E9"/>
                </a:solidFill>
              </a:rPr>
              <a:t>Solar &amp; wind energy manufacturing; India's first solar airport base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566160" y="2103120"/>
            <a:ext cx="2011680" cy="301752"/>
          </a:xfrm>
          <a:prstGeom prst="rect">
            <a:avLst/>
          </a:prstGeom>
          <a:solidFill>
            <a:srgbClr val="D4A8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584448" y="2121408"/>
            <a:ext cx="19751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3D40"/>
                </a:solidFill>
              </a:rPr>
              <a:t>₹8,000 Cr potential by 2040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126480" y="640080"/>
            <a:ext cx="2743200" cy="1920240"/>
          </a:xfrm>
          <a:prstGeom prst="rect">
            <a:avLst/>
          </a:prstGeom>
          <a:solidFill>
            <a:srgbClr val="0A3D40"/>
          </a:solidFill>
          <a:ln/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126480" y="7315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💻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217920" y="120700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IT &amp; Deep Tech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17920" y="153619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DF6E9"/>
                </a:solidFill>
              </a:rPr>
              <a:t>Infopark 3.0; AI/ML, cybersecurity, SaaS startups expansion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492240" y="2103120"/>
            <a:ext cx="2011680" cy="301752"/>
          </a:xfrm>
          <a:prstGeom prst="rect">
            <a:avLst/>
          </a:prstGeom>
          <a:solidFill>
            <a:srgbClr val="D4A8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510528" y="2121408"/>
            <a:ext cx="19751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3D40"/>
                </a:solidFill>
              </a:rPr>
              <a:t>₹15,000 Cr potential by 2040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" y="2743200"/>
            <a:ext cx="2743200" cy="1920240"/>
          </a:xfrm>
          <a:prstGeom prst="rect">
            <a:avLst/>
          </a:prstGeom>
          <a:solidFill>
            <a:srgbClr val="0E8C94"/>
          </a:solidFill>
          <a:ln/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274320" y="28346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🏥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365760" y="331012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Medical Tourism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65760" y="363931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DF6E9"/>
                </a:solidFill>
              </a:rPr>
              <a:t>Amrita, Aster, Lakeshore — international patient corridors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40080" y="4206240"/>
            <a:ext cx="2011680" cy="301752"/>
          </a:xfrm>
          <a:prstGeom prst="rect">
            <a:avLst/>
          </a:prstGeom>
          <a:solidFill>
            <a:srgbClr val="D4A8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658368" y="4224528"/>
            <a:ext cx="19751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3D40"/>
                </a:solidFill>
              </a:rPr>
              <a:t>₹6,000 Cr potential by 2040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00400" y="2743200"/>
            <a:ext cx="2743200" cy="1920240"/>
          </a:xfrm>
          <a:prstGeom prst="rect">
            <a:avLst/>
          </a:prstGeom>
          <a:solidFill>
            <a:srgbClr val="5BB8BF"/>
          </a:solidFill>
          <a:ln/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3200400" y="28346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🐟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3291840" y="331012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Blue Economy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291840" y="363931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DF6E9"/>
                </a:solidFill>
              </a:rPr>
              <a:t>Marine biotech, seaweed, deep sea fishing, ocean pharma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566160" y="4206240"/>
            <a:ext cx="2011680" cy="301752"/>
          </a:xfrm>
          <a:prstGeom prst="rect">
            <a:avLst/>
          </a:prstGeom>
          <a:solidFill>
            <a:srgbClr val="D4A8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3584448" y="4224528"/>
            <a:ext cx="19751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3D40"/>
                </a:solidFill>
              </a:rPr>
              <a:t>₹5,000 Cr potential by 2040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126480" y="2743200"/>
            <a:ext cx="2743200" cy="1920240"/>
          </a:xfrm>
          <a:prstGeom prst="rect">
            <a:avLst/>
          </a:prstGeom>
          <a:solidFill>
            <a:srgbClr val="D4A833"/>
          </a:solidFill>
          <a:ln/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6126480" y="28346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🎨</a:t>
            </a:r>
            <a:endParaRPr lang="en-US" sz="2600" dirty="0"/>
          </a:p>
        </p:txBody>
      </p:sp>
      <p:sp>
        <p:nvSpPr>
          <p:cNvPr id="36" name="Text 34"/>
          <p:cNvSpPr/>
          <p:nvPr/>
        </p:nvSpPr>
        <p:spPr>
          <a:xfrm>
            <a:off x="6217920" y="331012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Cultural &amp; Heritage Tourism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217920" y="363931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DF6E9"/>
                </a:solidFill>
              </a:rPr>
              <a:t>Muziris heritage, Fort Kochi, BIENNALE — cultural economy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492240" y="4206240"/>
            <a:ext cx="2011680" cy="301752"/>
          </a:xfrm>
          <a:prstGeom prst="rect">
            <a:avLst/>
          </a:prstGeom>
          <a:solidFill>
            <a:srgbClr val="D4A8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6510528" y="4224528"/>
            <a:ext cx="19751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3D40"/>
                </a:solidFill>
              </a:rPr>
              <a:t>₹3,500 Cr potential by 2040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B9EA0"/>
                </a:solidFill>
              </a:rPr>
              <a:t>Projections: Kerala Vision 2040, NITI Aayog, NASSCOM Kerala Chapter, World Bank Blue Economy Report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6E7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D4A8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D4A8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600" dirty="0">
                <a:solidFill>
                  <a:srgbClr val="D4A833"/>
                </a:solidFill>
              </a:rPr>
              <a:t>SECTION 03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Entrepreneurial Ecosystem &amp;</a:t>
            </a:r>
            <a:endParaRPr lang="en-US" sz="3400" dirty="0"/>
          </a:p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Portfolio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0CE7A"/>
                </a:solidFill>
              </a:rPr>
              <a:t>Ease of doing business • Success stories • Barriers • Venture archetypes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3D4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ENTREPRENEURIAL ECOSYSTEM — ERNAKULAM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594360"/>
            <a:ext cx="2926080" cy="4206240"/>
          </a:xfrm>
          <a:prstGeom prst="rect">
            <a:avLst/>
          </a:prstGeom>
          <a:solidFill>
            <a:srgbClr val="0A3D40"/>
          </a:solidFill>
          <a:ln/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4A833"/>
                </a:solidFill>
              </a:rPr>
              <a:t>EASE OF DOING BUSINESS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2743200" cy="457200"/>
          </a:xfrm>
          <a:prstGeom prst="rect">
            <a:avLst/>
          </a:prstGeom>
          <a:solidFill>
            <a:srgbClr val="0D6E7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57200" y="1078992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DF6E9"/>
                </a:solidFill>
              </a:rPr>
              <a:t>Kerala EODB Rank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2148840" y="1078992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D4A833"/>
                </a:solidFill>
              </a:rPr>
              <a:t>13th (India)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581912"/>
            <a:ext cx="2743200" cy="457200"/>
          </a:xfrm>
          <a:prstGeom prst="rect">
            <a:avLst/>
          </a:prstGeom>
          <a:solidFill>
            <a:srgbClr val="0D6E7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57200" y="1609344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DF6E9"/>
                </a:solidFill>
              </a:rPr>
              <a:t>Single Window Portal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148840" y="1609344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D4A833"/>
                </a:solidFill>
              </a:rPr>
              <a:t>Sameeksha — online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2112264"/>
            <a:ext cx="2743200" cy="457200"/>
          </a:xfrm>
          <a:prstGeom prst="rect">
            <a:avLst/>
          </a:prstGeom>
          <a:solidFill>
            <a:srgbClr val="0D6E7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57200" y="2139696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DF6E9"/>
                </a:solidFill>
              </a:rPr>
              <a:t>Avg Licence Days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148840" y="2139696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D4A833"/>
                </a:solidFill>
              </a:rPr>
              <a:t>45–90 days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2642616"/>
            <a:ext cx="2743200" cy="457200"/>
          </a:xfrm>
          <a:prstGeom prst="rect">
            <a:avLst/>
          </a:prstGeom>
          <a:solidFill>
            <a:srgbClr val="0D6E7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57200" y="2670048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DF6E9"/>
                </a:solidFill>
              </a:rPr>
              <a:t>MSME Registration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148840" y="2670048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D4A833"/>
                </a:solidFill>
              </a:rPr>
              <a:t>Udyam — instant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3172968"/>
            <a:ext cx="2743200" cy="457200"/>
          </a:xfrm>
          <a:prstGeom prst="rect">
            <a:avLst/>
          </a:prstGeom>
          <a:solidFill>
            <a:srgbClr val="0D6E7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57200" y="3200400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DF6E9"/>
                </a:solidFill>
              </a:rPr>
              <a:t>Land Registration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148840" y="3200400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D4A833"/>
                </a:solidFill>
              </a:rPr>
              <a:t>Online — 7 days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3703320"/>
            <a:ext cx="2743200" cy="457200"/>
          </a:xfrm>
          <a:prstGeom prst="rect">
            <a:avLst/>
          </a:prstGeom>
          <a:solidFill>
            <a:srgbClr val="0D6E7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57200" y="3730752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DF6E9"/>
                </a:solidFill>
              </a:rPr>
              <a:t>GST Compliance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148840" y="3730752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D4A833"/>
                </a:solidFill>
              </a:rPr>
              <a:t>Digital &amp; simple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429000" y="59436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6E75"/>
                </a:solidFill>
              </a:rPr>
              <a:t>ECOSYSTEM COMPONENTS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429000" y="896112"/>
            <a:ext cx="53949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5BB8BF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3429000" y="896112"/>
            <a:ext cx="64008" cy="457200"/>
          </a:xfrm>
          <a:prstGeom prst="rect">
            <a:avLst/>
          </a:prstGeom>
          <a:solidFill>
            <a:srgbClr val="0D6E7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3566160" y="932688"/>
            <a:ext cx="5166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3D40"/>
                </a:solidFill>
              </a:rPr>
              <a:t>Kerala Startup Mission (KSUM)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566160" y="1133856"/>
            <a:ext cx="5166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6B6E"/>
                </a:solidFill>
              </a:rPr>
              <a:t>State nodal agency; seed funding ₹5–50L; 3,200+ startups supported statewide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429000" y="1426464"/>
            <a:ext cx="53949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5BB8BF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3429000" y="1426464"/>
            <a:ext cx="64008" cy="457200"/>
          </a:xfrm>
          <a:prstGeom prst="rect">
            <a:avLst/>
          </a:prstGeom>
          <a:solidFill>
            <a:srgbClr val="0D6E7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3566160" y="1463040"/>
            <a:ext cx="5166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3D40"/>
                </a:solidFill>
              </a:rPr>
              <a:t>Infopark Incubation Centre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566160" y="1664208"/>
            <a:ext cx="5166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6B6E"/>
                </a:solidFill>
              </a:rPr>
              <a:t>100+ active startups; co-working, mentoring, investor connect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429000" y="1956816"/>
            <a:ext cx="53949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5BB8BF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3429000" y="1956816"/>
            <a:ext cx="64008" cy="457200"/>
          </a:xfrm>
          <a:prstGeom prst="rect">
            <a:avLst/>
          </a:prstGeom>
          <a:solidFill>
            <a:srgbClr val="0D6E7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3566160" y="1993392"/>
            <a:ext cx="5166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3D40"/>
                </a:solidFill>
              </a:rPr>
              <a:t>TiE Kerala Chapter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566160" y="2194560"/>
            <a:ext cx="5166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6B6E"/>
                </a:solidFill>
              </a:rPr>
              <a:t>Mentors, angel network, startup bootcamps, global connections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429000" y="2487168"/>
            <a:ext cx="53949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5BB8BF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3429000" y="2487168"/>
            <a:ext cx="64008" cy="457200"/>
          </a:xfrm>
          <a:prstGeom prst="rect">
            <a:avLst/>
          </a:prstGeom>
          <a:solidFill>
            <a:srgbClr val="0D6E7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3566160" y="2523744"/>
            <a:ext cx="5166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3D40"/>
                </a:solidFill>
              </a:rPr>
              <a:t>KOCHI-TECHNOPARK Accelerator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3566160" y="2724912"/>
            <a:ext cx="5166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6B6E"/>
                </a:solidFill>
              </a:rPr>
              <a:t>Product startups focus; 6-month cohort programs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429000" y="3017520"/>
            <a:ext cx="53949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5BB8BF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3429000" y="3017520"/>
            <a:ext cx="64008" cy="457200"/>
          </a:xfrm>
          <a:prstGeom prst="rect">
            <a:avLst/>
          </a:prstGeom>
          <a:solidFill>
            <a:srgbClr val="0D6E7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3566160" y="3054096"/>
            <a:ext cx="5166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3D40"/>
                </a:solidFill>
              </a:rPr>
              <a:t>CSEZ &amp; SEZL Facilities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3566160" y="3255264"/>
            <a:ext cx="5166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6B6E"/>
                </a:solidFill>
              </a:rPr>
              <a:t>Tax incentives, plug-and-play infrastructure for manufacturing/tech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3429000" y="3630168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6E75"/>
                </a:solidFill>
              </a:rPr>
              <a:t>SUCCESS STORIES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429000" y="3886200"/>
            <a:ext cx="1664208" cy="868680"/>
          </a:xfrm>
          <a:prstGeom prst="rect">
            <a:avLst/>
          </a:prstGeom>
          <a:solidFill>
            <a:srgbClr val="EFF8F9"/>
          </a:solidFill>
          <a:ln w="12700">
            <a:solidFill>
              <a:srgbClr val="5BB8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3493008" y="3931920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3D40"/>
                </a:solidFill>
              </a:rPr>
              <a:t>Ather Energy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3493008" y="4206240"/>
            <a:ext cx="1536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6B6E"/>
                </a:solidFill>
              </a:rPr>
              <a:t>EV startup with Kochi presence; ₹3,000+ Cr valuation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5257800" y="3886200"/>
            <a:ext cx="1664208" cy="868680"/>
          </a:xfrm>
          <a:prstGeom prst="rect">
            <a:avLst/>
          </a:prstGeom>
          <a:solidFill>
            <a:srgbClr val="EFF8F9"/>
          </a:solidFill>
          <a:ln w="12700">
            <a:solidFill>
              <a:srgbClr val="5BB8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5321808" y="3931920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3D40"/>
                </a:solidFill>
              </a:rPr>
              <a:t>Zappfresh (Fish)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321808" y="4206240"/>
            <a:ext cx="1536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6B6E"/>
                </a:solidFill>
              </a:rPr>
              <a:t>Online seafood delivery serving 50+ cities from Kochi base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7086600" y="3886200"/>
            <a:ext cx="1664208" cy="868680"/>
          </a:xfrm>
          <a:prstGeom prst="rect">
            <a:avLst/>
          </a:prstGeom>
          <a:solidFill>
            <a:srgbClr val="EFF8F9"/>
          </a:solidFill>
          <a:ln w="12700">
            <a:solidFill>
              <a:srgbClr val="5BB8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7150608" y="3931920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3D40"/>
                </a:solidFill>
              </a:rPr>
              <a:t>Sieve Analytics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7150608" y="4206240"/>
            <a:ext cx="1536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6B6E"/>
                </a:solidFill>
              </a:rPr>
              <a:t>AI analytics startup; KSUM laureate, US expansion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B9EA0"/>
                </a:solidFill>
              </a:rPr>
              <a:t>Sources: KSUM Annual Report 2023, TiE Kerala, DIC Ernakulam, Primary Interviews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1046</Words>
  <Application>Microsoft Office PowerPoint</Application>
  <PresentationFormat>On-screen Show (16:9)</PresentationFormat>
  <Paragraphs>203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Ernakulam District Capstone Presentation</dc:title>
  <dc:subject>PptxGenJS Presentation</dc:subject>
  <dc:creator>PptxGenJS</dc:creator>
  <cp:lastModifiedBy>Abhinandh K M</cp:lastModifiedBy>
  <cp:revision>2</cp:revision>
  <dcterms:created xsi:type="dcterms:W3CDTF">2026-03-12T09:51:14Z</dcterms:created>
  <dcterms:modified xsi:type="dcterms:W3CDTF">2026-03-15T20:36:18Z</dcterms:modified>
</cp:coreProperties>
</file>